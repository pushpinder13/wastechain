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256" r:id="rId5"/>
    <p:sldId id="257" r:id="rId6"/>
    <p:sldId id="270" r:id="rId7"/>
    <p:sldId id="271" r:id="rId8"/>
    <p:sldId id="272" r:id="rId9"/>
    <p:sldId id="273" r:id="rId10"/>
    <p:sldId id="275" r:id="rId11"/>
    <p:sldId id="277" r:id="rId12"/>
    <p:sldId id="282" r:id="rId13"/>
    <p:sldId id="283" r:id="rId14"/>
    <p:sldId id="285" r:id="rId15"/>
    <p:sldId id="286" r:id="rId16"/>
    <p:sldId id="280" r:id="rId17"/>
    <p:sldId id="281" r:id="rId18"/>
    <p:sldId id="268" r:id="rId19"/>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B34D37-AEFA-461D-80D1-03230118974E}">
          <p14:sldIdLst>
            <p14:sldId id="256"/>
            <p14:sldId id="257"/>
            <p14:sldId id="270"/>
            <p14:sldId id="271"/>
            <p14:sldId id="272"/>
            <p14:sldId id="273"/>
            <p14:sldId id="275"/>
            <p14:sldId id="277"/>
            <p14:sldId id="282"/>
            <p14:sldId id="283"/>
            <p14:sldId id="285"/>
            <p14:sldId id="286"/>
            <p14:sldId id="280"/>
            <p14:sldId id="281"/>
            <p14:sldId id="26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111" d="100"/>
          <a:sy n="111" d="100"/>
        </p:scale>
        <p:origin x="161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FC15-AE87-0AA6-311A-E2A88885B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797A8-FADF-BF75-F95F-CC6A27D19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304F20-1BB7-0D76-57CD-873BB7C183BD}"/>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DC0FF75E-9C76-F807-2165-3572BA8BAF81}"/>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F669CADA-7768-CEF0-FDCE-7A1B08549F49}"/>
              </a:ext>
            </a:extLst>
          </p:cNvPr>
          <p:cNvSpPr>
            <a:spLocks noGrp="1"/>
          </p:cNvSpPr>
          <p:nvPr>
            <p:ph type="sldNum" sz="quarter" idx="5"/>
          </p:nvPr>
        </p:nvSpPr>
        <p:spPr/>
        <p:txBody>
          <a:bodyPr/>
          <a:lstStyle/>
          <a:p>
            <a:fld id="{C5A7523A-12D4-4E0F-9409-B3F845B48333}" type="slidenum">
              <a:rPr lang="en-US" smtClean="0"/>
              <a:pPr/>
              <a:t>7</a:t>
            </a:fld>
            <a:endParaRPr lang="en-US"/>
          </a:p>
        </p:txBody>
      </p:sp>
    </p:spTree>
    <p:extLst>
      <p:ext uri="{BB962C8B-B14F-4D97-AF65-F5344CB8AC3E}">
        <p14:creationId xmlns:p14="http://schemas.microsoft.com/office/powerpoint/2010/main" val="56173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0BD1D-3C91-5FDB-9C55-9623DF706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A50F6-6331-581F-4290-55D1F80B3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6B34B-6835-1E5A-D4A7-4997067B3839}"/>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CFEC5A0E-C09A-307C-9E8A-A5D0C5C36C16}"/>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2DB25A4C-F018-B530-3358-97E51B1C603D}"/>
              </a:ext>
            </a:extLst>
          </p:cNvPr>
          <p:cNvSpPr>
            <a:spLocks noGrp="1"/>
          </p:cNvSpPr>
          <p:nvPr>
            <p:ph type="sldNum" sz="quarter" idx="5"/>
          </p:nvPr>
        </p:nvSpPr>
        <p:spPr/>
        <p:txBody>
          <a:bodyPr/>
          <a:lstStyle/>
          <a:p>
            <a:fld id="{C5A7523A-12D4-4E0F-9409-B3F845B48333}" type="slidenum">
              <a:rPr lang="en-US" smtClean="0"/>
              <a:pPr/>
              <a:t>8</a:t>
            </a:fld>
            <a:endParaRPr lang="en-US"/>
          </a:p>
        </p:txBody>
      </p:sp>
    </p:spTree>
    <p:extLst>
      <p:ext uri="{BB962C8B-B14F-4D97-AF65-F5344CB8AC3E}">
        <p14:creationId xmlns:p14="http://schemas.microsoft.com/office/powerpoint/2010/main" val="4125542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CA248-635D-471D-05F1-84AA0DB2F5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341D4-FE40-3A84-3A12-59A1363AA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DD48F-E5CE-334F-C1F2-9BB5BA2CC8A2}"/>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2C63D25E-82A9-B0ED-D2C6-12565ABF9B26}"/>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1A1DB3DB-1A2A-DE57-7402-AB204EBDF2FA}"/>
              </a:ext>
            </a:extLst>
          </p:cNvPr>
          <p:cNvSpPr>
            <a:spLocks noGrp="1"/>
          </p:cNvSpPr>
          <p:nvPr>
            <p:ph type="sldNum" sz="quarter" idx="5"/>
          </p:nvPr>
        </p:nvSpPr>
        <p:spPr/>
        <p:txBody>
          <a:bodyPr/>
          <a:lstStyle/>
          <a:p>
            <a:fld id="{C5A7523A-12D4-4E0F-9409-B3F845B48333}" type="slidenum">
              <a:rPr lang="en-US" smtClean="0"/>
              <a:pPr/>
              <a:t>9</a:t>
            </a:fld>
            <a:endParaRPr lang="en-US"/>
          </a:p>
        </p:txBody>
      </p:sp>
    </p:spTree>
    <p:extLst>
      <p:ext uri="{BB962C8B-B14F-4D97-AF65-F5344CB8AC3E}">
        <p14:creationId xmlns:p14="http://schemas.microsoft.com/office/powerpoint/2010/main" val="1453424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C40F1-5D82-F7EF-F56A-6331885A3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088F6E-CCEF-C9E2-05F3-A8FF502C6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A12B6-8E58-037D-BB33-022C0531186D}"/>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DADB1874-C1FD-8133-F16F-9EF3635D08DC}"/>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F83430E2-0CFF-F360-1972-6CC827801C66}"/>
              </a:ext>
            </a:extLst>
          </p:cNvPr>
          <p:cNvSpPr>
            <a:spLocks noGrp="1"/>
          </p:cNvSpPr>
          <p:nvPr>
            <p:ph type="sldNum" sz="quarter" idx="5"/>
          </p:nvPr>
        </p:nvSpPr>
        <p:spPr/>
        <p:txBody>
          <a:bodyPr/>
          <a:lstStyle/>
          <a:p>
            <a:fld id="{C5A7523A-12D4-4E0F-9409-B3F845B48333}" type="slidenum">
              <a:rPr lang="en-US" smtClean="0"/>
              <a:pPr/>
              <a:t>10</a:t>
            </a:fld>
            <a:endParaRPr lang="en-US"/>
          </a:p>
        </p:txBody>
      </p:sp>
    </p:spTree>
    <p:extLst>
      <p:ext uri="{BB962C8B-B14F-4D97-AF65-F5344CB8AC3E}">
        <p14:creationId xmlns:p14="http://schemas.microsoft.com/office/powerpoint/2010/main" val="1178210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AFAD0-D203-F2D8-BE95-1E05F5D57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2F490-938E-7764-9F5B-C82606C4F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B551C-FF8E-D937-E9AD-81046BC00732}"/>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E00BA3AE-FC37-E1EF-B808-88E38302223F}"/>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65F5FEAA-6FC6-0D91-61F5-01273865111B}"/>
              </a:ext>
            </a:extLst>
          </p:cNvPr>
          <p:cNvSpPr>
            <a:spLocks noGrp="1"/>
          </p:cNvSpPr>
          <p:nvPr>
            <p:ph type="sldNum" sz="quarter" idx="5"/>
          </p:nvPr>
        </p:nvSpPr>
        <p:spPr/>
        <p:txBody>
          <a:bodyPr/>
          <a:lstStyle/>
          <a:p>
            <a:fld id="{C5A7523A-12D4-4E0F-9409-B3F845B48333}" type="slidenum">
              <a:rPr lang="en-US" smtClean="0"/>
              <a:pPr/>
              <a:t>11</a:t>
            </a:fld>
            <a:endParaRPr lang="en-US"/>
          </a:p>
        </p:txBody>
      </p:sp>
    </p:spTree>
    <p:extLst>
      <p:ext uri="{BB962C8B-B14F-4D97-AF65-F5344CB8AC3E}">
        <p14:creationId xmlns:p14="http://schemas.microsoft.com/office/powerpoint/2010/main" val="391602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00D16-61ED-C000-8696-94C5120E5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A1D39-FB56-6228-5096-2E32435B20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0D7A8-8C0A-D9B2-52C4-33AC90BF26D6}"/>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82E4C52C-4431-9411-B86A-D3BDFA96AAF3}"/>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70A057D5-52A2-4D2F-48D5-FFC1D3715918}"/>
              </a:ext>
            </a:extLst>
          </p:cNvPr>
          <p:cNvSpPr>
            <a:spLocks noGrp="1"/>
          </p:cNvSpPr>
          <p:nvPr>
            <p:ph type="sldNum" sz="quarter" idx="5"/>
          </p:nvPr>
        </p:nvSpPr>
        <p:spPr/>
        <p:txBody>
          <a:bodyPr/>
          <a:lstStyle/>
          <a:p>
            <a:fld id="{C5A7523A-12D4-4E0F-9409-B3F845B48333}" type="slidenum">
              <a:rPr lang="en-US" smtClean="0"/>
              <a:pPr/>
              <a:t>12</a:t>
            </a:fld>
            <a:endParaRPr lang="en-US"/>
          </a:p>
        </p:txBody>
      </p:sp>
    </p:spTree>
    <p:extLst>
      <p:ext uri="{BB962C8B-B14F-4D97-AF65-F5344CB8AC3E}">
        <p14:creationId xmlns:p14="http://schemas.microsoft.com/office/powerpoint/2010/main" val="2556629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853D8-8955-6336-03CD-E92C149DA1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03B38-4E02-02BD-9F54-7B6B42CDE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84A1C-D933-A3A5-473C-91520A9C256B}"/>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E047121C-60B9-D0CA-A1D4-723CFBE68B03}"/>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F0A93C4A-0859-3BEE-BF65-75957E55F536}"/>
              </a:ext>
            </a:extLst>
          </p:cNvPr>
          <p:cNvSpPr>
            <a:spLocks noGrp="1"/>
          </p:cNvSpPr>
          <p:nvPr>
            <p:ph type="sldNum" sz="quarter" idx="5"/>
          </p:nvPr>
        </p:nvSpPr>
        <p:spPr/>
        <p:txBody>
          <a:bodyPr/>
          <a:lstStyle/>
          <a:p>
            <a:fld id="{C5A7523A-12D4-4E0F-9409-B3F845B48333}" type="slidenum">
              <a:rPr lang="en-US" smtClean="0"/>
              <a:pPr/>
              <a:t>13</a:t>
            </a:fld>
            <a:endParaRPr lang="en-US"/>
          </a:p>
        </p:txBody>
      </p:sp>
    </p:spTree>
    <p:extLst>
      <p:ext uri="{BB962C8B-B14F-4D97-AF65-F5344CB8AC3E}">
        <p14:creationId xmlns:p14="http://schemas.microsoft.com/office/powerpoint/2010/main" val="340705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F0D76-5088-3456-BD62-BAEB4E37B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93A63-3557-3C47-1DD3-6ADB4ABD2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B02C0-34EC-1CED-11CE-CF5C30A11C83}"/>
              </a:ext>
            </a:extLst>
          </p:cNvPr>
          <p:cNvSpPr>
            <a:spLocks noGrp="1"/>
          </p:cNvSpPr>
          <p:nvPr>
            <p:ph type="body" idx="1"/>
          </p:nvPr>
        </p:nvSpPr>
        <p:spPr/>
        <p:txBody>
          <a:bodyPr/>
          <a:lstStyle/>
          <a:p>
            <a:endParaRPr lang="en-IN" dirty="0"/>
          </a:p>
        </p:txBody>
      </p:sp>
      <p:sp>
        <p:nvSpPr>
          <p:cNvPr id="4" name="Footer Placeholder 3">
            <a:extLst>
              <a:ext uri="{FF2B5EF4-FFF2-40B4-BE49-F238E27FC236}">
                <a16:creationId xmlns:a16="http://schemas.microsoft.com/office/drawing/2014/main" id="{6A357FCF-3436-7FC0-B686-259E8B073520}"/>
              </a:ext>
            </a:extLst>
          </p:cNvPr>
          <p:cNvSpPr>
            <a:spLocks noGrp="1"/>
          </p:cNvSpPr>
          <p:nvPr>
            <p:ph type="ftr" sz="quarter" idx="4"/>
          </p:nvPr>
        </p:nvSpPr>
        <p:spPr/>
        <p:txBody>
          <a:bodyPr/>
          <a:lstStyle/>
          <a:p>
            <a:r>
              <a:rPr lang="en-US"/>
              <a:t>Name of the faculty [Group: G00] [Sem:2nd]</a:t>
            </a:r>
          </a:p>
        </p:txBody>
      </p:sp>
      <p:sp>
        <p:nvSpPr>
          <p:cNvPr id="5" name="Slide Number Placeholder 4">
            <a:extLst>
              <a:ext uri="{FF2B5EF4-FFF2-40B4-BE49-F238E27FC236}">
                <a16:creationId xmlns:a16="http://schemas.microsoft.com/office/drawing/2014/main" id="{2BB69B64-8C61-AEDE-A31B-90A138321968}"/>
              </a:ext>
            </a:extLst>
          </p:cNvPr>
          <p:cNvSpPr>
            <a:spLocks noGrp="1"/>
          </p:cNvSpPr>
          <p:nvPr>
            <p:ph type="sldNum" sz="quarter" idx="5"/>
          </p:nvPr>
        </p:nvSpPr>
        <p:spPr/>
        <p:txBody>
          <a:bodyPr/>
          <a:lstStyle/>
          <a:p>
            <a:fld id="{C5A7523A-12D4-4E0F-9409-B3F845B48333}" type="slidenum">
              <a:rPr lang="en-US" smtClean="0"/>
              <a:pPr/>
              <a:t>14</a:t>
            </a:fld>
            <a:endParaRPr lang="en-US"/>
          </a:p>
        </p:txBody>
      </p:sp>
    </p:spTree>
    <p:extLst>
      <p:ext uri="{BB962C8B-B14F-4D97-AF65-F5344CB8AC3E}">
        <p14:creationId xmlns:p14="http://schemas.microsoft.com/office/powerpoint/2010/main" val="3487816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800" b="1" dirty="0">
                <a:solidFill>
                  <a:srgbClr val="FF0000"/>
                </a:solidFill>
              </a:rPr>
              <a:t>WasteChain: A Smart Recycling Traceability and Analytics Platform</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1" strike="noStrike" spc="-1" dirty="0">
                <a:solidFill>
                  <a:srgbClr val="000000"/>
                </a:solidFill>
                <a:latin typeface="Times New Roman" panose="02020603050405020304" pitchFamily="18" charset="0"/>
                <a:ea typeface="MS PGothic"/>
                <a:cs typeface="Times New Roman" panose="02020603050405020304" pitchFamily="18" charset="0"/>
              </a:rPr>
              <a:t>Dr. Monika Aggarwal</a:t>
            </a:r>
            <a:endParaRPr lang="en-US" sz="2000" b="1"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2" name="TextBox 1">
            <a:extLst>
              <a:ext uri="{FF2B5EF4-FFF2-40B4-BE49-F238E27FC236}">
                <a16:creationId xmlns:a16="http://schemas.microsoft.com/office/drawing/2014/main" id="{D505468B-7537-532B-DB2C-90132BB32233}"/>
              </a:ext>
            </a:extLst>
          </p:cNvPr>
          <p:cNvSpPr txBox="1"/>
          <p:nvPr/>
        </p:nvSpPr>
        <p:spPr>
          <a:xfrm>
            <a:off x="2262916" y="2828835"/>
            <a:ext cx="2706254" cy="1200329"/>
          </a:xfrm>
          <a:prstGeom prst="rect">
            <a:avLst/>
          </a:prstGeom>
          <a:noFill/>
        </p:spPr>
        <p:txBody>
          <a:bodyPr wrap="square" rtlCol="0">
            <a:spAutoFit/>
          </a:bodyPr>
          <a:lstStyle/>
          <a:p>
            <a:r>
              <a:rPr lang="en-US" dirty="0"/>
              <a:t>Pushpinder Singh</a:t>
            </a:r>
          </a:p>
          <a:p>
            <a:r>
              <a:rPr lang="en-US" dirty="0"/>
              <a:t>Narinder Singh</a:t>
            </a:r>
          </a:p>
          <a:p>
            <a:r>
              <a:rPr lang="en-US" dirty="0"/>
              <a:t>Lokesh Vaid</a:t>
            </a:r>
          </a:p>
          <a:p>
            <a:r>
              <a:rPr lang="en-US" dirty="0"/>
              <a:t>Nipun Kumar</a:t>
            </a:r>
            <a:endParaRPr lang="en-IN" dirty="0"/>
          </a:p>
        </p:txBody>
      </p:sp>
      <p:sp>
        <p:nvSpPr>
          <p:cNvPr id="3" name="TextBox 2">
            <a:extLst>
              <a:ext uri="{FF2B5EF4-FFF2-40B4-BE49-F238E27FC236}">
                <a16:creationId xmlns:a16="http://schemas.microsoft.com/office/drawing/2014/main" id="{FD844C7D-612A-F7BA-092C-68213E126A79}"/>
              </a:ext>
            </a:extLst>
          </p:cNvPr>
          <p:cNvSpPr txBox="1"/>
          <p:nvPr/>
        </p:nvSpPr>
        <p:spPr>
          <a:xfrm>
            <a:off x="4969170" y="2828835"/>
            <a:ext cx="2706254" cy="1200329"/>
          </a:xfrm>
          <a:prstGeom prst="rect">
            <a:avLst/>
          </a:prstGeom>
          <a:noFill/>
        </p:spPr>
        <p:txBody>
          <a:bodyPr wrap="square" rtlCol="0">
            <a:spAutoFit/>
          </a:bodyPr>
          <a:lstStyle/>
          <a:p>
            <a:r>
              <a:rPr lang="en-US" dirty="0"/>
              <a:t>2210990693</a:t>
            </a:r>
          </a:p>
          <a:p>
            <a:r>
              <a:rPr lang="en-US" dirty="0"/>
              <a:t>2210990598</a:t>
            </a:r>
          </a:p>
          <a:p>
            <a:r>
              <a:rPr lang="en-US" dirty="0"/>
              <a:t>2210990545</a:t>
            </a:r>
          </a:p>
          <a:p>
            <a:r>
              <a:rPr lang="en-US" dirty="0"/>
              <a:t>2210990615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US" sz="2000" b="1" dirty="0"/>
              <a:t>Introduction</a:t>
            </a:r>
          </a:p>
          <a:p>
            <a:endParaRPr lang="en-US" sz="2000" b="1" dirty="0"/>
          </a:p>
          <a:p>
            <a:r>
              <a:rPr lang="en-US" sz="2000" dirty="0"/>
              <a:t>Recycling seems easy, but the process is not well organized. Citizens depend on local vendors for waste collection, but pickup schedules are irregular and inconsistent. Sometimes waste is collected on time, and sometimes it is delayed.</a:t>
            </a:r>
          </a:p>
          <a:p>
            <a:endParaRPr lang="en-US" sz="2000" dirty="0"/>
          </a:p>
          <a:p>
            <a:r>
              <a:rPr lang="en-US" sz="2000" dirty="0"/>
              <a:t>Collectors also face problems because there is no proper system to track requests and manage work. Most activities are done manually, which reduces transparency and efficiency.</a:t>
            </a:r>
          </a:p>
          <a:p>
            <a:endParaRPr lang="en-US" sz="2000" dirty="0"/>
          </a:p>
          <a:p>
            <a:r>
              <a:rPr lang="en-US" sz="2000" dirty="0"/>
              <a:t>Recyclers do not get proper information about recyclable waste. Poor record management and lack of tracking create delays and confusion. Existing systems solve only a few problems and do not provide complete waste tracking or smart automation.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66AF8-8975-EAC4-A45D-A3C35AD8A9BC}"/>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48F86E6-AB64-57CF-71EE-C8106EA64072}"/>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Problem Statement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79CDF08E-4CE3-522F-916B-45AED6296EC0}"/>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9E04DA84-BE99-BB49-E1B1-67BCB2A2F727}"/>
              </a:ext>
            </a:extLst>
          </p:cNvPr>
          <p:cNvSpPr txBox="1"/>
          <p:nvPr/>
        </p:nvSpPr>
        <p:spPr>
          <a:xfrm>
            <a:off x="152640" y="1109742"/>
            <a:ext cx="8838720" cy="4838571"/>
          </a:xfrm>
          <a:prstGeom prst="rect">
            <a:avLst/>
          </a:prstGeom>
          <a:noFill/>
          <a:ln w="9360">
            <a:noFill/>
          </a:ln>
        </p:spPr>
        <p:txBody>
          <a:bodyPr>
            <a:noAutofit/>
          </a:bodyPr>
          <a:lstStyle/>
          <a:p>
            <a:r>
              <a:rPr lang="en-US" sz="2000" b="1" dirty="0"/>
              <a:t>Existing Issues</a:t>
            </a:r>
          </a:p>
          <a:p>
            <a:endParaRPr lang="en-US" sz="2000" b="1" dirty="0"/>
          </a:p>
          <a:p>
            <a:pPr marL="342900" indent="-342900">
              <a:buFont typeface="Arial" panose="020B0604020202020204" pitchFamily="34" charset="0"/>
              <a:buChar char="•"/>
            </a:pPr>
            <a:r>
              <a:rPr lang="en-US" sz="2000" dirty="0"/>
              <a:t>Recycling systems are unorganized and difficult to manage.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Citizens depend on local vendors with random pickup schedules.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Waste collection is inconsistent and lacks reliability.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Collectors face problems in tracking requests and managing workflows.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Most operations are handled manually with low transparency.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Recyclers do not get proper visibility of incoming recyclable waste. </a:t>
            </a:r>
          </a:p>
        </p:txBody>
      </p:sp>
    </p:spTree>
    <p:extLst>
      <p:ext uri="{BB962C8B-B14F-4D97-AF65-F5344CB8AC3E}">
        <p14:creationId xmlns:p14="http://schemas.microsoft.com/office/powerpoint/2010/main" val="1787071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96AAC-F8AC-C57A-E68E-7E0009F0A50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8476D339-AEE7-5016-2388-ECC220BE210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Objective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FAE8214B-4B98-CD8F-8FE9-BDC303D6B3C8}"/>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00ADF56B-E7A7-6EA6-6AC0-DF4BC2C9996E}"/>
              </a:ext>
            </a:extLst>
          </p:cNvPr>
          <p:cNvSpPr txBox="1"/>
          <p:nvPr/>
        </p:nvSpPr>
        <p:spPr>
          <a:xfrm>
            <a:off x="152640" y="1109742"/>
            <a:ext cx="8838720" cy="4838571"/>
          </a:xfrm>
          <a:prstGeom prst="rect">
            <a:avLst/>
          </a:prstGeom>
          <a:noFill/>
          <a:ln w="9360">
            <a:noFill/>
          </a:ln>
        </p:spPr>
        <p:txBody>
          <a:bodyPr>
            <a:noAutofit/>
          </a:bodyPr>
          <a:lstStyle/>
          <a:p>
            <a:r>
              <a:rPr lang="en-US" sz="2000" b="1" dirty="0"/>
              <a:t>Main Objectives</a:t>
            </a:r>
          </a:p>
          <a:p>
            <a:endParaRPr lang="en-US" sz="2000" b="1" dirty="0"/>
          </a:p>
          <a:p>
            <a:pPr marL="342900" indent="-342900">
              <a:buFont typeface="Arial" panose="020B0604020202020204" pitchFamily="34" charset="0"/>
              <a:buChar char="•"/>
            </a:pPr>
            <a:r>
              <a:rPr lang="en-US" sz="2000" dirty="0"/>
              <a:t>To develop a smart and efficient recyclable waste management system.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provide proper waste traceability from collection to recycling. </a:t>
            </a:r>
          </a:p>
          <a:p>
            <a:endParaRPr lang="en-US" sz="2000" dirty="0"/>
          </a:p>
          <a:p>
            <a:pPr marL="342900" indent="-342900">
              <a:buFont typeface="Arial" panose="020B0604020202020204" pitchFamily="34" charset="0"/>
              <a:buChar char="•"/>
            </a:pPr>
            <a:r>
              <a:rPr lang="en-US" sz="2000" dirty="0"/>
              <a:t>To enable real-time tracking and monitoring of recyclable waste.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create a structured workflow for citizens, collectors, and recyclers.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use data-driven analytics for better decision-making and waste management.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To promote sustainable and eco-friendly recycling practices. </a:t>
            </a:r>
          </a:p>
        </p:txBody>
      </p:sp>
    </p:spTree>
    <p:extLst>
      <p:ext uri="{BB962C8B-B14F-4D97-AF65-F5344CB8AC3E}">
        <p14:creationId xmlns:p14="http://schemas.microsoft.com/office/powerpoint/2010/main" val="212899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E57B6-8C48-AF06-C1DA-B8DF5F1A5D68}"/>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323C3214-A18A-EF91-0A67-10578374789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System Architecture / Modules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34EC4C05-87FC-2048-FD14-33E59F4BAAC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25C30548-37B6-8AE4-BD37-8E3F96FA0D5E}"/>
              </a:ext>
            </a:extLst>
          </p:cNvPr>
          <p:cNvSpPr txBox="1"/>
          <p:nvPr/>
        </p:nvSpPr>
        <p:spPr>
          <a:xfrm>
            <a:off x="152640" y="1109742"/>
            <a:ext cx="8838720" cy="4838571"/>
          </a:xfrm>
          <a:prstGeom prst="rect">
            <a:avLst/>
          </a:prstGeom>
          <a:noFill/>
          <a:ln w="9360">
            <a:noFill/>
          </a:ln>
        </p:spPr>
        <p:txBody>
          <a:bodyPr>
            <a:noAutofit/>
          </a:bodyPr>
          <a:lstStyle/>
          <a:p>
            <a:pPr marL="457200" indent="-457200">
              <a:buAutoNum type="arabicPeriod"/>
            </a:pPr>
            <a:r>
              <a:rPr lang="en-US" sz="2000" b="1" dirty="0"/>
              <a:t>User Module:</a:t>
            </a:r>
            <a:r>
              <a:rPr lang="en-US" sz="2000" dirty="0"/>
              <a:t> Citizens submit recyclable waste pickup requests through the application. </a:t>
            </a:r>
          </a:p>
          <a:p>
            <a:pPr marL="457200" indent="-457200">
              <a:buAutoNum type="arabicPeriod"/>
            </a:pPr>
            <a:endParaRPr lang="en-US" sz="2000" dirty="0"/>
          </a:p>
          <a:p>
            <a:pPr marL="457200" indent="-457200">
              <a:buAutoNum type="arabicPeriod"/>
            </a:pPr>
            <a:r>
              <a:rPr lang="en-US" sz="2000" b="1" dirty="0"/>
              <a:t>Collector Module:</a:t>
            </a:r>
            <a:r>
              <a:rPr lang="en-US" sz="2000" dirty="0"/>
              <a:t> Collectors receive requests, manage pickups, and update waste status. </a:t>
            </a:r>
          </a:p>
          <a:p>
            <a:pPr marL="457200" indent="-457200">
              <a:buAutoNum type="arabicPeriod"/>
            </a:pPr>
            <a:endParaRPr lang="en-US" sz="2000" dirty="0"/>
          </a:p>
          <a:p>
            <a:pPr marL="457200" indent="-457200">
              <a:buAutoNum type="arabicPeriod"/>
            </a:pPr>
            <a:r>
              <a:rPr lang="en-US" sz="2000" b="1" dirty="0"/>
              <a:t>Scrap Dealer Module:</a:t>
            </a:r>
            <a:r>
              <a:rPr lang="en-US" sz="2000" dirty="0"/>
              <a:t> Scrap dealers collect and process recyclable materials from collectors. </a:t>
            </a:r>
          </a:p>
          <a:p>
            <a:pPr marL="457200" indent="-457200">
              <a:buAutoNum type="arabicPeriod"/>
            </a:pPr>
            <a:endParaRPr lang="en-US" sz="2000" dirty="0"/>
          </a:p>
          <a:p>
            <a:pPr marL="457200" indent="-457200">
              <a:buAutoNum type="arabicPeriod"/>
            </a:pPr>
            <a:r>
              <a:rPr lang="en-US" sz="2000" b="1" dirty="0"/>
              <a:t>Database Server:</a:t>
            </a:r>
            <a:r>
              <a:rPr lang="en-US" sz="2000" dirty="0"/>
              <a:t> Stores user data, pickup details, waste records, and transaction history. </a:t>
            </a:r>
          </a:p>
          <a:p>
            <a:pPr marL="457200" indent="-457200">
              <a:buAutoNum type="arabicPeriod"/>
            </a:pPr>
            <a:endParaRPr lang="en-US" sz="2000" dirty="0"/>
          </a:p>
          <a:p>
            <a:pPr marL="457200" indent="-457200">
              <a:buAutoNum type="arabicPeriod"/>
            </a:pPr>
            <a:r>
              <a:rPr lang="en-US" sz="2000" b="1" dirty="0"/>
              <a:t>Analytics Dashboard:</a:t>
            </a:r>
            <a:r>
              <a:rPr lang="en-US" sz="2000" dirty="0"/>
              <a:t> Monitors waste movement, recycling statistics, and system performance using real-time data. </a:t>
            </a:r>
          </a:p>
        </p:txBody>
      </p:sp>
    </p:spTree>
    <p:extLst>
      <p:ext uri="{BB962C8B-B14F-4D97-AF65-F5344CB8AC3E}">
        <p14:creationId xmlns:p14="http://schemas.microsoft.com/office/powerpoint/2010/main" val="100004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3D581-DE8B-6471-FE90-DB4DE68E8E8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BAAF1E90-A7AB-8BC1-4C36-1B962B50B81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System Architecture / Modules</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E4EE0AB8-6D6E-32B4-38E2-26AF30BA918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CB32EAAE-D284-1718-49C7-96DEBF517410}"/>
              </a:ext>
            </a:extLst>
          </p:cNvPr>
          <p:cNvSpPr txBox="1"/>
          <p:nvPr/>
        </p:nvSpPr>
        <p:spPr>
          <a:xfrm>
            <a:off x="144014" y="1109742"/>
            <a:ext cx="8838720" cy="4838571"/>
          </a:xfrm>
          <a:prstGeom prst="rect">
            <a:avLst/>
          </a:prstGeom>
          <a:noFill/>
          <a:ln w="9360">
            <a:noFill/>
          </a:ln>
        </p:spPr>
        <p:txBody>
          <a:bodyPr>
            <a:noAutofit/>
          </a:bodyPr>
          <a:lstStyle/>
          <a:p>
            <a:pPr marL="457200" indent="-457200">
              <a:buFont typeface="+mj-lt"/>
              <a:buAutoNum type="arabicPeriod"/>
            </a:pPr>
            <a:r>
              <a:rPr lang="en-US" sz="2000" b="1" dirty="0"/>
              <a:t>Admin Module:</a:t>
            </a:r>
            <a:r>
              <a:rPr lang="en-US" sz="2000" dirty="0"/>
              <a:t> Manages users, monitors activities, and ensures smooth system operation. </a:t>
            </a:r>
          </a:p>
          <a:p>
            <a:pPr marL="457200" indent="-457200">
              <a:buFont typeface="+mj-lt"/>
              <a:buAutoNum type="arabicPeriod"/>
            </a:pPr>
            <a:endParaRPr lang="en-US" sz="2000" dirty="0"/>
          </a:p>
          <a:p>
            <a:pPr marL="457200" indent="-457200">
              <a:buFont typeface="+mj-lt"/>
              <a:buAutoNum type="arabicPeriod"/>
            </a:pPr>
            <a:r>
              <a:rPr lang="en-US" sz="2000" b="1" dirty="0"/>
              <a:t>Notification System:</a:t>
            </a:r>
            <a:r>
              <a:rPr lang="en-US" sz="2000" dirty="0"/>
              <a:t> Sends pickup updates, alerts, and status notifications to users and collectors. </a:t>
            </a:r>
          </a:p>
        </p:txBody>
      </p:sp>
      <p:pic>
        <p:nvPicPr>
          <p:cNvPr id="8" name="Picture 7">
            <a:extLst>
              <a:ext uri="{FF2B5EF4-FFF2-40B4-BE49-F238E27FC236}">
                <a16:creationId xmlns:a16="http://schemas.microsoft.com/office/drawing/2014/main" id="{0BC52A48-92DE-7E99-980A-97992C3A99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24994" y="3606930"/>
            <a:ext cx="6476760" cy="2613405"/>
          </a:xfrm>
          <a:prstGeom prst="rect">
            <a:avLst/>
          </a:prstGeom>
        </p:spPr>
      </p:pic>
    </p:spTree>
    <p:extLst>
      <p:ext uri="{BB962C8B-B14F-4D97-AF65-F5344CB8AC3E}">
        <p14:creationId xmlns:p14="http://schemas.microsoft.com/office/powerpoint/2010/main" val="3606126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C5580-0F22-7D44-0C3D-CC16886D07E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5092914-8BBD-A778-106C-281A88247E5B}"/>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Technologies Used</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93516543-A119-CE31-7968-0FB4760610F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00D4A2ED-B931-2FB7-A757-93860E828E87}"/>
              </a:ext>
            </a:extLst>
          </p:cNvPr>
          <p:cNvSpPr txBox="1"/>
          <p:nvPr/>
        </p:nvSpPr>
        <p:spPr>
          <a:xfrm>
            <a:off x="152640" y="1109742"/>
            <a:ext cx="8838720" cy="4838571"/>
          </a:xfrm>
          <a:prstGeom prst="rect">
            <a:avLst/>
          </a:prstGeom>
          <a:noFill/>
          <a:ln w="9360">
            <a:noFill/>
          </a:ln>
        </p:spPr>
        <p:txBody>
          <a:bodyPr>
            <a:noAutofit/>
          </a:bodyPr>
          <a:lstStyle/>
          <a:p>
            <a:pPr marL="457200" indent="-457200">
              <a:buFont typeface="+mj-lt"/>
              <a:buAutoNum type="arabicPeriod"/>
            </a:pPr>
            <a:r>
              <a:rPr lang="en-IN" sz="2000" b="1" dirty="0"/>
              <a:t>Frontend:</a:t>
            </a:r>
            <a:r>
              <a:rPr lang="en-IN" sz="2000" dirty="0"/>
              <a:t> React + </a:t>
            </a:r>
            <a:r>
              <a:rPr lang="en-IN" sz="2000" dirty="0" err="1"/>
              <a:t>vite</a:t>
            </a:r>
            <a:r>
              <a:rPr lang="en-IN" sz="2000" dirty="0"/>
              <a:t> </a:t>
            </a:r>
          </a:p>
          <a:p>
            <a:pPr marL="457200" indent="-457200">
              <a:buFont typeface="+mj-lt"/>
              <a:buAutoNum type="arabicPeriod"/>
            </a:pPr>
            <a:endParaRPr lang="en-IN" sz="2000" dirty="0"/>
          </a:p>
          <a:p>
            <a:pPr marL="457200" indent="-457200">
              <a:buFont typeface="+mj-lt"/>
              <a:buAutoNum type="arabicPeriod"/>
            </a:pPr>
            <a:r>
              <a:rPr lang="en-IN" sz="2000" b="1" dirty="0"/>
              <a:t>Backend:</a:t>
            </a:r>
            <a:r>
              <a:rPr lang="en-IN" sz="2000" dirty="0"/>
              <a:t> Node.js / Express.js </a:t>
            </a:r>
          </a:p>
          <a:p>
            <a:pPr marL="457200" indent="-457200">
              <a:buFont typeface="+mj-lt"/>
              <a:buAutoNum type="arabicPeriod"/>
            </a:pPr>
            <a:endParaRPr lang="en-IN" sz="2000" dirty="0"/>
          </a:p>
          <a:p>
            <a:pPr marL="457200" indent="-457200">
              <a:buFont typeface="+mj-lt"/>
              <a:buAutoNum type="arabicPeriod"/>
            </a:pPr>
            <a:r>
              <a:rPr lang="en-IN" sz="2000" b="1" dirty="0"/>
              <a:t>Database:</a:t>
            </a:r>
            <a:r>
              <a:rPr lang="en-IN" sz="2000" dirty="0"/>
              <a:t> MongoDB </a:t>
            </a:r>
          </a:p>
          <a:p>
            <a:pPr marL="457200" indent="-457200">
              <a:buFont typeface="+mj-lt"/>
              <a:buAutoNum type="arabicPeriod"/>
            </a:pPr>
            <a:endParaRPr lang="en-IN" sz="2000" dirty="0"/>
          </a:p>
          <a:p>
            <a:pPr marL="457200" indent="-457200">
              <a:buFont typeface="+mj-lt"/>
              <a:buAutoNum type="arabicPeriod"/>
            </a:pPr>
            <a:r>
              <a:rPr lang="en-IN" sz="2000" b="1" dirty="0"/>
              <a:t>Cloud Services:</a:t>
            </a:r>
            <a:r>
              <a:rPr lang="en-IN" sz="2000" dirty="0"/>
              <a:t> </a:t>
            </a:r>
            <a:r>
              <a:rPr lang="en-IN" sz="2000" dirty="0" err="1"/>
              <a:t>Cloudnary</a:t>
            </a:r>
            <a:r>
              <a:rPr lang="en-IN" sz="2000" dirty="0"/>
              <a:t> </a:t>
            </a:r>
          </a:p>
          <a:p>
            <a:pPr marL="457200" indent="-457200">
              <a:buFont typeface="+mj-lt"/>
              <a:buAutoNum type="arabicPeriod"/>
            </a:pPr>
            <a:endParaRPr lang="en-IN" sz="2000" dirty="0"/>
          </a:p>
          <a:p>
            <a:pPr marL="457200" indent="-457200">
              <a:buFont typeface="+mj-lt"/>
              <a:buAutoNum type="arabicPeriod"/>
            </a:pPr>
            <a:r>
              <a:rPr lang="en-IN" sz="2000" b="1" dirty="0"/>
              <a:t>Authentication:</a:t>
            </a:r>
            <a:r>
              <a:rPr lang="en-IN" sz="2000" dirty="0"/>
              <a:t> Json Web Token</a:t>
            </a:r>
          </a:p>
          <a:p>
            <a:pPr marL="457200" indent="-457200">
              <a:buFont typeface="+mj-lt"/>
              <a:buAutoNum type="arabicPeriod"/>
            </a:pPr>
            <a:endParaRPr lang="en-IN" sz="2000" dirty="0"/>
          </a:p>
          <a:p>
            <a:pPr marL="457200" indent="-457200">
              <a:buFont typeface="+mj-lt"/>
              <a:buAutoNum type="arabicPeriod"/>
            </a:pPr>
            <a:r>
              <a:rPr lang="en-IN" sz="2000" b="1" dirty="0"/>
              <a:t>Data Visualization:</a:t>
            </a:r>
            <a:r>
              <a:rPr lang="en-IN" sz="2000" dirty="0"/>
              <a:t> Chart.js / Analytics Dashboard </a:t>
            </a:r>
          </a:p>
          <a:p>
            <a:pPr marL="457200" indent="-457200">
              <a:buFont typeface="+mj-lt"/>
              <a:buAutoNum type="arabicPeriod"/>
            </a:pPr>
            <a:endParaRPr lang="en-IN" sz="2000" dirty="0"/>
          </a:p>
          <a:p>
            <a:pPr marL="457200" indent="-457200">
              <a:buFont typeface="+mj-lt"/>
              <a:buAutoNum type="arabicPeriod"/>
            </a:pPr>
            <a:r>
              <a:rPr lang="en-IN" sz="2000" b="1" dirty="0"/>
              <a:t>Version Control:</a:t>
            </a:r>
            <a:r>
              <a:rPr lang="en-IN" sz="2000" dirty="0"/>
              <a:t> Git &amp; GitHub </a:t>
            </a:r>
          </a:p>
          <a:p>
            <a:pPr marL="457200" indent="-457200">
              <a:buFont typeface="+mj-lt"/>
              <a:buAutoNum type="arabicPeriod"/>
            </a:pPr>
            <a:endParaRPr lang="en-IN" sz="2000" dirty="0"/>
          </a:p>
          <a:p>
            <a:pPr marL="457200" indent="-457200">
              <a:buFont typeface="+mj-lt"/>
              <a:buAutoNum type="arabicPeriod"/>
            </a:pPr>
            <a:r>
              <a:rPr lang="en-IN" sz="2000" b="1" dirty="0"/>
              <a:t>APIs:</a:t>
            </a:r>
            <a:r>
              <a:rPr lang="en-IN" sz="2000" dirty="0"/>
              <a:t> REST API for communication between modules </a:t>
            </a:r>
          </a:p>
        </p:txBody>
      </p:sp>
      <p:pic>
        <p:nvPicPr>
          <p:cNvPr id="3" name="Picture 2">
            <a:extLst>
              <a:ext uri="{FF2B5EF4-FFF2-40B4-BE49-F238E27FC236}">
                <a16:creationId xmlns:a16="http://schemas.microsoft.com/office/drawing/2014/main" id="{34BC851F-E5B6-AE94-A934-0C2338CBB2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01132" y="1109742"/>
            <a:ext cx="2242868" cy="4838571"/>
          </a:xfrm>
          <a:prstGeom prst="rect">
            <a:avLst/>
          </a:prstGeom>
        </p:spPr>
      </p:pic>
    </p:spTree>
    <p:extLst>
      <p:ext uri="{BB962C8B-B14F-4D97-AF65-F5344CB8AC3E}">
        <p14:creationId xmlns:p14="http://schemas.microsoft.com/office/powerpoint/2010/main" val="3921504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6AD4D-EF9C-7692-6946-88B4DF906B5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093028B9-1D17-624B-D924-0971D42EA20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Result / Output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3579C29-9061-057A-5BEC-914C97F5ACF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EC5E555A-ACBF-04EB-C7C0-0808B4ACFC6B}"/>
              </a:ext>
            </a:extLst>
          </p:cNvPr>
          <p:cNvSpPr txBox="1"/>
          <p:nvPr/>
        </p:nvSpPr>
        <p:spPr>
          <a:xfrm>
            <a:off x="152640" y="1109742"/>
            <a:ext cx="8838720" cy="4838571"/>
          </a:xfrm>
          <a:prstGeom prst="rect">
            <a:avLst/>
          </a:prstGeom>
          <a:noFill/>
          <a:ln w="9360">
            <a:noFill/>
          </a:ln>
        </p:spPr>
        <p:txBody>
          <a:bodyPr>
            <a:noAutofit/>
          </a:bodyPr>
          <a:lstStyle/>
          <a:p>
            <a:r>
              <a:rPr lang="en-US" sz="2000" b="1" dirty="0"/>
              <a:t>Homepage</a:t>
            </a:r>
          </a:p>
        </p:txBody>
      </p:sp>
      <p:pic>
        <p:nvPicPr>
          <p:cNvPr id="3" name="Picture 2">
            <a:extLst>
              <a:ext uri="{FF2B5EF4-FFF2-40B4-BE49-F238E27FC236}">
                <a16:creationId xmlns:a16="http://schemas.microsoft.com/office/drawing/2014/main" id="{22F71FBD-AB39-50A8-A73B-0B11C89971CC}"/>
              </a:ext>
            </a:extLst>
          </p:cNvPr>
          <p:cNvPicPr>
            <a:picLocks noChangeAspect="1"/>
          </p:cNvPicPr>
          <p:nvPr/>
        </p:nvPicPr>
        <p:blipFill>
          <a:blip r:embed="rId3"/>
          <a:stretch>
            <a:fillRect/>
          </a:stretch>
        </p:blipFill>
        <p:spPr>
          <a:xfrm>
            <a:off x="0" y="1785493"/>
            <a:ext cx="9144000" cy="4366923"/>
          </a:xfrm>
          <a:prstGeom prst="rect">
            <a:avLst/>
          </a:prstGeom>
        </p:spPr>
      </p:pic>
    </p:spTree>
    <p:extLst>
      <p:ext uri="{BB962C8B-B14F-4D97-AF65-F5344CB8AC3E}">
        <p14:creationId xmlns:p14="http://schemas.microsoft.com/office/powerpoint/2010/main" val="3553602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AD6E0-E793-C939-2C8A-7E412833A99B}"/>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19E8375B-B75B-249A-B90D-9535584DA621}"/>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Result / Output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E9F8927C-0FFA-76B3-CF72-65D4D394855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FB4EE241-9EBE-3448-5B1A-C513941B414A}"/>
              </a:ext>
            </a:extLst>
          </p:cNvPr>
          <p:cNvSpPr txBox="1"/>
          <p:nvPr/>
        </p:nvSpPr>
        <p:spPr>
          <a:xfrm>
            <a:off x="152640" y="1109742"/>
            <a:ext cx="8838720" cy="4838571"/>
          </a:xfrm>
          <a:prstGeom prst="rect">
            <a:avLst/>
          </a:prstGeom>
          <a:noFill/>
          <a:ln w="9360">
            <a:noFill/>
          </a:ln>
        </p:spPr>
        <p:txBody>
          <a:bodyPr>
            <a:noAutofit/>
          </a:bodyPr>
          <a:lstStyle/>
          <a:p>
            <a:r>
              <a:rPr lang="en-US" sz="2000" b="1" dirty="0"/>
              <a:t>Citizen Dashboard</a:t>
            </a:r>
          </a:p>
        </p:txBody>
      </p:sp>
      <p:pic>
        <p:nvPicPr>
          <p:cNvPr id="4" name="Picture 3">
            <a:extLst>
              <a:ext uri="{FF2B5EF4-FFF2-40B4-BE49-F238E27FC236}">
                <a16:creationId xmlns:a16="http://schemas.microsoft.com/office/drawing/2014/main" id="{CDACB917-F183-C5D6-E202-EFA09F62A539}"/>
              </a:ext>
            </a:extLst>
          </p:cNvPr>
          <p:cNvPicPr>
            <a:picLocks noChangeAspect="1"/>
          </p:cNvPicPr>
          <p:nvPr/>
        </p:nvPicPr>
        <p:blipFill>
          <a:blip r:embed="rId3"/>
          <a:stretch>
            <a:fillRect/>
          </a:stretch>
        </p:blipFill>
        <p:spPr>
          <a:xfrm>
            <a:off x="0" y="1757287"/>
            <a:ext cx="9144000" cy="4395129"/>
          </a:xfrm>
          <a:prstGeom prst="rect">
            <a:avLst/>
          </a:prstGeom>
        </p:spPr>
      </p:pic>
    </p:spTree>
    <p:extLst>
      <p:ext uri="{BB962C8B-B14F-4D97-AF65-F5344CB8AC3E}">
        <p14:creationId xmlns:p14="http://schemas.microsoft.com/office/powerpoint/2010/main" val="932680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0419D-84BE-613B-9234-557FD68C4367}"/>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7714AAC-5BFC-0671-EF4F-E2B4282BC0D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Result / Output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DDDA845E-CD44-D042-6CA2-A739C4B3926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
        <p:nvSpPr>
          <p:cNvPr id="5" name="TextShape 2">
            <a:extLst>
              <a:ext uri="{FF2B5EF4-FFF2-40B4-BE49-F238E27FC236}">
                <a16:creationId xmlns:a16="http://schemas.microsoft.com/office/drawing/2014/main" id="{C2913873-589C-1486-AAFC-6124F785447E}"/>
              </a:ext>
            </a:extLst>
          </p:cNvPr>
          <p:cNvSpPr txBox="1"/>
          <p:nvPr/>
        </p:nvSpPr>
        <p:spPr>
          <a:xfrm>
            <a:off x="152640" y="1109742"/>
            <a:ext cx="8838720" cy="4838571"/>
          </a:xfrm>
          <a:prstGeom prst="rect">
            <a:avLst/>
          </a:prstGeom>
          <a:noFill/>
          <a:ln w="9360">
            <a:noFill/>
          </a:ln>
        </p:spPr>
        <p:txBody>
          <a:bodyPr>
            <a:noAutofit/>
          </a:bodyPr>
          <a:lstStyle/>
          <a:p>
            <a:r>
              <a:rPr lang="en-US" sz="2000" b="1" dirty="0"/>
              <a:t>Collector Dashboard</a:t>
            </a:r>
          </a:p>
        </p:txBody>
      </p:sp>
      <p:pic>
        <p:nvPicPr>
          <p:cNvPr id="4" name="Picture 3">
            <a:extLst>
              <a:ext uri="{FF2B5EF4-FFF2-40B4-BE49-F238E27FC236}">
                <a16:creationId xmlns:a16="http://schemas.microsoft.com/office/drawing/2014/main" id="{F1BED882-E875-A349-C75D-FF0F61E401D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5398" y="1757287"/>
            <a:ext cx="9093204" cy="4395129"/>
          </a:xfrm>
          <a:prstGeom prst="rect">
            <a:avLst/>
          </a:prstGeom>
        </p:spPr>
      </p:pic>
    </p:spTree>
    <p:extLst>
      <p:ext uri="{BB962C8B-B14F-4D97-AF65-F5344CB8AC3E}">
        <p14:creationId xmlns:p14="http://schemas.microsoft.com/office/powerpoint/2010/main" val="3565845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81A55-34D9-9FC2-B915-485EC056DC62}"/>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942E8F1B-C8CF-7D47-65AE-04E7DDD73E97}"/>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Result / Output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40CF4874-A138-9DBD-DADF-F761ACC02F7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a:extLst>
              <a:ext uri="{FF2B5EF4-FFF2-40B4-BE49-F238E27FC236}">
                <a16:creationId xmlns:a16="http://schemas.microsoft.com/office/drawing/2014/main" id="{8BDEAF39-D717-7DE6-031A-0B620D4A7431}"/>
              </a:ext>
            </a:extLst>
          </p:cNvPr>
          <p:cNvSpPr txBox="1"/>
          <p:nvPr/>
        </p:nvSpPr>
        <p:spPr>
          <a:xfrm>
            <a:off x="152640" y="1109742"/>
            <a:ext cx="8838720" cy="4838571"/>
          </a:xfrm>
          <a:prstGeom prst="rect">
            <a:avLst/>
          </a:prstGeom>
          <a:noFill/>
          <a:ln w="9360">
            <a:noFill/>
          </a:ln>
        </p:spPr>
        <p:txBody>
          <a:bodyPr>
            <a:noAutofit/>
          </a:bodyPr>
          <a:lstStyle/>
          <a:p>
            <a:r>
              <a:rPr lang="en-US" sz="2000" b="1" dirty="0"/>
              <a:t>Recycler Dashboard</a:t>
            </a:r>
          </a:p>
        </p:txBody>
      </p:sp>
      <p:pic>
        <p:nvPicPr>
          <p:cNvPr id="4" name="Picture 3">
            <a:extLst>
              <a:ext uri="{FF2B5EF4-FFF2-40B4-BE49-F238E27FC236}">
                <a16:creationId xmlns:a16="http://schemas.microsoft.com/office/drawing/2014/main" id="{642BFF30-ED67-A029-E72C-CA5ACD308B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046" y="1757287"/>
            <a:ext cx="9083908" cy="4395129"/>
          </a:xfrm>
          <a:prstGeom prst="rect">
            <a:avLst/>
          </a:prstGeom>
        </p:spPr>
      </p:pic>
    </p:spTree>
    <p:extLst>
      <p:ext uri="{BB962C8B-B14F-4D97-AF65-F5344CB8AC3E}">
        <p14:creationId xmlns:p14="http://schemas.microsoft.com/office/powerpoint/2010/main" val="490826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1014D-CC47-7886-02D2-62ACE0C84E14}"/>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E620AB3E-6CF4-7A67-0032-0476BA6D0F06}"/>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Result / Output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55068256-238A-6982-80D8-51A68A20E4F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
        <p:nvSpPr>
          <p:cNvPr id="5" name="TextShape 2">
            <a:extLst>
              <a:ext uri="{FF2B5EF4-FFF2-40B4-BE49-F238E27FC236}">
                <a16:creationId xmlns:a16="http://schemas.microsoft.com/office/drawing/2014/main" id="{25282449-8D32-903D-8876-5E0D0DA2F9A4}"/>
              </a:ext>
            </a:extLst>
          </p:cNvPr>
          <p:cNvSpPr txBox="1"/>
          <p:nvPr/>
        </p:nvSpPr>
        <p:spPr>
          <a:xfrm>
            <a:off x="152640" y="1109742"/>
            <a:ext cx="8838720" cy="4838571"/>
          </a:xfrm>
          <a:prstGeom prst="rect">
            <a:avLst/>
          </a:prstGeom>
          <a:noFill/>
          <a:ln w="9360">
            <a:noFill/>
          </a:ln>
        </p:spPr>
        <p:txBody>
          <a:bodyPr>
            <a:noAutofit/>
          </a:bodyPr>
          <a:lstStyle/>
          <a:p>
            <a:r>
              <a:rPr lang="en-US" sz="2000" b="1" dirty="0"/>
              <a:t>Admin Dashboard</a:t>
            </a:r>
          </a:p>
        </p:txBody>
      </p:sp>
      <p:pic>
        <p:nvPicPr>
          <p:cNvPr id="4" name="Picture 3">
            <a:extLst>
              <a:ext uri="{FF2B5EF4-FFF2-40B4-BE49-F238E27FC236}">
                <a16:creationId xmlns:a16="http://schemas.microsoft.com/office/drawing/2014/main" id="{F725119C-D44F-63F3-B0D1-7496B07125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046" y="1771358"/>
            <a:ext cx="9083908" cy="4366986"/>
          </a:xfrm>
          <a:prstGeom prst="rect">
            <a:avLst/>
          </a:prstGeom>
        </p:spPr>
      </p:pic>
    </p:spTree>
    <p:extLst>
      <p:ext uri="{BB962C8B-B14F-4D97-AF65-F5344CB8AC3E}">
        <p14:creationId xmlns:p14="http://schemas.microsoft.com/office/powerpoint/2010/main" val="1551739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091F7-B0A7-087D-2C83-93523393D99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32AA9A75-51C2-3F0C-36F5-5401773B046C}"/>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Future Scope</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C51236B3-A330-07DF-10F6-DCE159152864}"/>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13</a:t>
            </a:fld>
            <a:endParaRPr lang="en-GB" sz="1200" b="0" strike="noStrike" spc="-1">
              <a:latin typeface="Times New Roman"/>
            </a:endParaRPr>
          </a:p>
        </p:txBody>
      </p:sp>
      <p:sp>
        <p:nvSpPr>
          <p:cNvPr id="5" name="TextShape 2">
            <a:extLst>
              <a:ext uri="{FF2B5EF4-FFF2-40B4-BE49-F238E27FC236}">
                <a16:creationId xmlns:a16="http://schemas.microsoft.com/office/drawing/2014/main" id="{CD0364FD-3FC8-6C6F-F7D2-BBA4D61A86B2}"/>
              </a:ext>
            </a:extLst>
          </p:cNvPr>
          <p:cNvSpPr txBox="1"/>
          <p:nvPr/>
        </p:nvSpPr>
        <p:spPr>
          <a:xfrm>
            <a:off x="152640" y="1109742"/>
            <a:ext cx="8838720" cy="4838571"/>
          </a:xfrm>
          <a:prstGeom prst="rect">
            <a:avLst/>
          </a:prstGeom>
          <a:noFill/>
          <a:ln w="9360">
            <a:noFill/>
          </a:ln>
        </p:spPr>
        <p:txBody>
          <a:bodyPr>
            <a:noAutofit/>
          </a:bodyPr>
          <a:lstStyle/>
          <a:p>
            <a:pPr marL="342900" indent="-342900">
              <a:buFont typeface="Arial" panose="020B0604020202020204" pitchFamily="34" charset="0"/>
              <a:buChar char="•"/>
            </a:pPr>
            <a:r>
              <a:rPr lang="en-US" sz="2000" dirty="0"/>
              <a:t>Integration of AI and Machine Learning for smart waste prediction and classification.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Implementation of IoT sensors for real-time waste monitoring and tracking.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Addition of GPS-based route optimization for collectors.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Development of reward systems to encourage citizens for recycling participation.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Integration with government waste management platforms for better transparency.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Advanced analytics and reporting for efficient decision-making and sustainability planning. </a:t>
            </a:r>
          </a:p>
        </p:txBody>
      </p:sp>
    </p:spTree>
    <p:extLst>
      <p:ext uri="{BB962C8B-B14F-4D97-AF65-F5344CB8AC3E}">
        <p14:creationId xmlns:p14="http://schemas.microsoft.com/office/powerpoint/2010/main" val="1320885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C4B1C-5FC4-714F-C923-184ED085A03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A59141D7-5B0B-EAF7-2E0A-0CD95BD4AD43}"/>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Conslusion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29AB42FB-D4B2-B522-56B9-88AA644B5C0A}"/>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14</a:t>
            </a:fld>
            <a:endParaRPr lang="en-GB" sz="1200" b="0" strike="noStrike" spc="-1">
              <a:latin typeface="Times New Roman"/>
            </a:endParaRPr>
          </a:p>
        </p:txBody>
      </p:sp>
      <p:sp>
        <p:nvSpPr>
          <p:cNvPr id="5" name="TextShape 2">
            <a:extLst>
              <a:ext uri="{FF2B5EF4-FFF2-40B4-BE49-F238E27FC236}">
                <a16:creationId xmlns:a16="http://schemas.microsoft.com/office/drawing/2014/main" id="{D6695F64-66D4-44A8-5B92-1CFC45FCDFC3}"/>
              </a:ext>
            </a:extLst>
          </p:cNvPr>
          <p:cNvSpPr txBox="1"/>
          <p:nvPr/>
        </p:nvSpPr>
        <p:spPr>
          <a:xfrm>
            <a:off x="152640" y="1109742"/>
            <a:ext cx="8838720" cy="4838571"/>
          </a:xfrm>
          <a:prstGeom prst="rect">
            <a:avLst/>
          </a:prstGeom>
          <a:noFill/>
          <a:ln w="9360">
            <a:noFill/>
          </a:ln>
        </p:spPr>
        <p:txBody>
          <a:bodyPr>
            <a:noAutofit/>
          </a:bodyPr>
          <a:lstStyle/>
          <a:p>
            <a:r>
              <a:rPr lang="en-US" sz="2000" b="1" dirty="0"/>
              <a:t>Conclusion</a:t>
            </a:r>
          </a:p>
          <a:p>
            <a:endParaRPr lang="en-US" sz="2000" b="1" dirty="0"/>
          </a:p>
          <a:p>
            <a:r>
              <a:rPr lang="en-US" sz="2000" dirty="0"/>
              <a:t>The proposed recyclable waste management system provides a smart and efficient solution for handling recyclable waste. It improves waste traceability, transparency, and recycling management through digital monitoring and data-driven analytics. The system reduces manual coordination, enhances workflow efficiency, and supports sustainable environmental practices. Overall, the project helps create a more organized, reliable, and eco-friendly recycling process.</a:t>
            </a:r>
          </a:p>
        </p:txBody>
      </p:sp>
    </p:spTree>
    <p:extLst>
      <p:ext uri="{BB962C8B-B14F-4D97-AF65-F5344CB8AC3E}">
        <p14:creationId xmlns:p14="http://schemas.microsoft.com/office/powerpoint/2010/main" val="1201276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283069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GB" sz="1200" b="0" strike="noStrike" spc="-1">
              <a:latin typeface="Times New Roman"/>
            </a:endParaRPr>
          </a:p>
        </p:txBody>
      </p:sp>
      <p:pic>
        <p:nvPicPr>
          <p:cNvPr id="3" name="Picture 2">
            <a:extLst>
              <a:ext uri="{FF2B5EF4-FFF2-40B4-BE49-F238E27FC236}">
                <a16:creationId xmlns:a16="http://schemas.microsoft.com/office/drawing/2014/main" id="{7E653FC3-4CBF-BA66-8BA1-43A0E6F0F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089892"/>
            <a:ext cx="4892400" cy="4892400"/>
          </a:xfrm>
          <a:prstGeom prst="rect">
            <a:avLst/>
          </a:prstGeom>
        </p:spPr>
      </p:pic>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34776</TotalTime>
  <Words>768</Words>
  <Application>Microsoft Office PowerPoint</Application>
  <PresentationFormat>On-screen Show (4:3)</PresentationFormat>
  <Paragraphs>146</Paragraphs>
  <Slides>15</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Narinder Singh</cp:lastModifiedBy>
  <cp:revision>2310</cp:revision>
  <dcterms:created xsi:type="dcterms:W3CDTF">2010-04-09T07:36:15Z</dcterms:created>
  <dcterms:modified xsi:type="dcterms:W3CDTF">2026-05-14T16:52:53Z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